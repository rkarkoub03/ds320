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Barlow ExtraLight"/>
      <p:regular r:id="rId14"/>
      <p:bold r:id="rId15"/>
      <p:italic r:id="rId16"/>
      <p:boldItalic r:id="rId17"/>
    </p:embeddedFont>
    <p:embeddedFont>
      <p:font typeface="Hepta Slab Medium"/>
      <p:regular r:id="rId18"/>
      <p:bold r:id="rId19"/>
    </p:embeddedFont>
    <p:embeddedFont>
      <p:font typeface="Hepta Slab Light"/>
      <p:regular r:id="rId20"/>
      <p:bold r:id="rId21"/>
    </p:embeddedFont>
    <p:embeddedFont>
      <p:font typeface="Hepta Slab"/>
      <p:regular r:id="rId22"/>
      <p:bold r:id="rId23"/>
    </p:embeddedFont>
    <p:embeddedFont>
      <p:font typeface="Barlow Medium"/>
      <p:regular r:id="rId24"/>
      <p:bold r:id="rId25"/>
      <p:italic r:id="rId26"/>
      <p:boldItalic r:id="rId27"/>
    </p:embeddedFont>
    <p:embeddedFont>
      <p:font typeface="Barlow Light"/>
      <p:regular r:id="rId28"/>
      <p:bold r:id="rId29"/>
      <p:italic r:id="rId30"/>
      <p:boldItalic r:id="rId31"/>
    </p:embeddedFont>
    <p:embeddedFont>
      <p:font typeface="Barlow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ptaSlabLight-regular.fntdata"/><Relationship Id="rId22" Type="http://schemas.openxmlformats.org/officeDocument/2006/relationships/font" Target="fonts/HeptaSlab-regular.fntdata"/><Relationship Id="rId21" Type="http://schemas.openxmlformats.org/officeDocument/2006/relationships/font" Target="fonts/HeptaSlabLight-bold.fntdata"/><Relationship Id="rId24" Type="http://schemas.openxmlformats.org/officeDocument/2006/relationships/font" Target="fonts/BarlowMedium-regular.fntdata"/><Relationship Id="rId23" Type="http://schemas.openxmlformats.org/officeDocument/2006/relationships/font" Target="fonts/Hepta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Medium-italic.fntdata"/><Relationship Id="rId25" Type="http://schemas.openxmlformats.org/officeDocument/2006/relationships/font" Target="fonts/BarlowMedium-bold.fntdata"/><Relationship Id="rId28" Type="http://schemas.openxmlformats.org/officeDocument/2006/relationships/font" Target="fonts/BarlowLight-regular.fntdata"/><Relationship Id="rId27" Type="http://schemas.openxmlformats.org/officeDocument/2006/relationships/font" Target="fonts/Barlow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Light-boldItalic.fntdata"/><Relationship Id="rId30" Type="http://schemas.openxmlformats.org/officeDocument/2006/relationships/font" Target="fonts/BarlowLight-italic.fntdata"/><Relationship Id="rId11" Type="http://schemas.openxmlformats.org/officeDocument/2006/relationships/slide" Target="slides/slide6.xml"/><Relationship Id="rId33" Type="http://schemas.openxmlformats.org/officeDocument/2006/relationships/font" Target="fonts/Barlow-bold.fntdata"/><Relationship Id="rId10" Type="http://schemas.openxmlformats.org/officeDocument/2006/relationships/slide" Target="slides/slide5.xml"/><Relationship Id="rId32" Type="http://schemas.openxmlformats.org/officeDocument/2006/relationships/font" Target="fonts/Barlow-regular.fntdata"/><Relationship Id="rId13" Type="http://schemas.openxmlformats.org/officeDocument/2006/relationships/slide" Target="slides/slide8.xml"/><Relationship Id="rId35" Type="http://schemas.openxmlformats.org/officeDocument/2006/relationships/font" Target="fonts/Barlow-boldItalic.fntdata"/><Relationship Id="rId12" Type="http://schemas.openxmlformats.org/officeDocument/2006/relationships/slide" Target="slides/slide7.xml"/><Relationship Id="rId34" Type="http://schemas.openxmlformats.org/officeDocument/2006/relationships/font" Target="fonts/Barlow-italic.fntdata"/><Relationship Id="rId15" Type="http://schemas.openxmlformats.org/officeDocument/2006/relationships/font" Target="fonts/BarlowExtraLight-bold.fntdata"/><Relationship Id="rId14" Type="http://schemas.openxmlformats.org/officeDocument/2006/relationships/font" Target="fonts/BarlowExtraLight-regular.fntdata"/><Relationship Id="rId17" Type="http://schemas.openxmlformats.org/officeDocument/2006/relationships/font" Target="fonts/BarlowExtraLight-boldItalic.fntdata"/><Relationship Id="rId16" Type="http://schemas.openxmlformats.org/officeDocument/2006/relationships/font" Target="fonts/BarlowExtraLight-italic.fntdata"/><Relationship Id="rId19" Type="http://schemas.openxmlformats.org/officeDocument/2006/relationships/font" Target="fonts/HeptaSlabMedium-bold.fntdata"/><Relationship Id="rId18" Type="http://schemas.openxmlformats.org/officeDocument/2006/relationships/font" Target="fonts/HeptaSlab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050dddb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050dddb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050dddb4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050dddb4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050dddb4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050dddb4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050dddb4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5050dddb4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050dddb43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050dddb43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050dddb43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050dddb43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050dddb43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050dddb43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050dddb43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050dddb43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IMDB vs RottenTomatoes</a:t>
            </a:r>
            <a:endParaRPr/>
          </a:p>
        </p:txBody>
      </p:sp>
      <p:sp>
        <p:nvSpPr>
          <p:cNvPr id="327" name="Google Shape;327;p47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Raed Karkoub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/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Movie review text varies between different platforms</a:t>
            </a:r>
            <a:endParaRPr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Goal: Classify whether a movie review comes from IMDB or RottenTomatoes, purely through text</a:t>
            </a:r>
            <a:endParaRPr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Introduction</a:t>
            </a:r>
            <a:endParaRPr sz="16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46" y="2118350"/>
            <a:ext cx="3891475" cy="19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320" y="2321627"/>
            <a:ext cx="5105181" cy="14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/>
        </p:nvSpPr>
        <p:spPr>
          <a:xfrm>
            <a:off x="6246420" y="1759425"/>
            <a:ext cx="16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dk1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78</a:t>
            </a:r>
            <a:endParaRPr sz="5400">
              <a:solidFill>
                <a:schemeClr val="dk1"/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sp>
        <p:nvSpPr>
          <p:cNvPr id="342" name="Google Shape;342;p49"/>
          <p:cNvSpPr/>
          <p:nvPr/>
        </p:nvSpPr>
        <p:spPr>
          <a:xfrm>
            <a:off x="1307225" y="3986500"/>
            <a:ext cx="1628100" cy="36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3" name="Google Shape;343;p49"/>
          <p:cNvSpPr/>
          <p:nvPr/>
        </p:nvSpPr>
        <p:spPr>
          <a:xfrm>
            <a:off x="2944050" y="3621675"/>
            <a:ext cx="1628100" cy="738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4" name="Google Shape;344;p49"/>
          <p:cNvSpPr txBox="1"/>
          <p:nvPr/>
        </p:nvSpPr>
        <p:spPr>
          <a:xfrm>
            <a:off x="1307222" y="4557325"/>
            <a:ext cx="1628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BAR GRAPH INFO 1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45" name="Google Shape;345;p49"/>
          <p:cNvSpPr txBox="1"/>
          <p:nvPr/>
        </p:nvSpPr>
        <p:spPr>
          <a:xfrm>
            <a:off x="2934435" y="4557325"/>
            <a:ext cx="1628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BAR GRAPH INFO 1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46" name="Google Shape;346;p49"/>
          <p:cNvSpPr txBox="1"/>
          <p:nvPr/>
        </p:nvSpPr>
        <p:spPr>
          <a:xfrm>
            <a:off x="4581065" y="4557325"/>
            <a:ext cx="1628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BAR GRAPH INFO 1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47" name="Google Shape;347;p49"/>
          <p:cNvSpPr txBox="1"/>
          <p:nvPr/>
        </p:nvSpPr>
        <p:spPr>
          <a:xfrm>
            <a:off x="6208688" y="4557325"/>
            <a:ext cx="1628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BAR GRAPH INFO 1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cxnSp>
        <p:nvCxnSpPr>
          <p:cNvPr id="348" name="Google Shape;348;p49"/>
          <p:cNvCxnSpPr/>
          <p:nvPr/>
        </p:nvCxnSpPr>
        <p:spPr>
          <a:xfrm rot="10800000">
            <a:off x="783775" y="4360100"/>
            <a:ext cx="757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49"/>
          <p:cNvSpPr txBox="1"/>
          <p:nvPr/>
        </p:nvSpPr>
        <p:spPr>
          <a:xfrm>
            <a:off x="783800" y="1389315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80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0" name="Google Shape;350;p49"/>
          <p:cNvSpPr txBox="1"/>
          <p:nvPr/>
        </p:nvSpPr>
        <p:spPr>
          <a:xfrm>
            <a:off x="783800" y="1755265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70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1" name="Google Shape;351;p49"/>
          <p:cNvSpPr txBox="1"/>
          <p:nvPr/>
        </p:nvSpPr>
        <p:spPr>
          <a:xfrm>
            <a:off x="783800" y="212122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60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2" name="Google Shape;352;p49"/>
          <p:cNvSpPr txBox="1"/>
          <p:nvPr/>
        </p:nvSpPr>
        <p:spPr>
          <a:xfrm>
            <a:off x="783800" y="248717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50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3" name="Google Shape;353;p49"/>
          <p:cNvSpPr txBox="1"/>
          <p:nvPr/>
        </p:nvSpPr>
        <p:spPr>
          <a:xfrm>
            <a:off x="783800" y="285312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40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4" name="Google Shape;354;p49"/>
          <p:cNvSpPr txBox="1"/>
          <p:nvPr/>
        </p:nvSpPr>
        <p:spPr>
          <a:xfrm>
            <a:off x="783800" y="321907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30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5" name="Google Shape;355;p49"/>
          <p:cNvSpPr txBox="1"/>
          <p:nvPr/>
        </p:nvSpPr>
        <p:spPr>
          <a:xfrm>
            <a:off x="783800" y="358502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20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6" name="Google Shape;356;p49"/>
          <p:cNvSpPr txBox="1"/>
          <p:nvPr/>
        </p:nvSpPr>
        <p:spPr>
          <a:xfrm>
            <a:off x="783800" y="3950978"/>
            <a:ext cx="579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10</a:t>
            </a:r>
            <a:endParaRPr sz="7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57" name="Google Shape;357;p49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IMDB top 1000 movies: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Obtained</a:t>
            </a:r>
            <a:r>
              <a:rPr lang="en" sz="1300"/>
              <a:t> from Kaggle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Titles, years, overviews, IMDB ratings, critic review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RottenTomatoes Top movies: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Obtained from Kaggle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Titles, years, </a:t>
            </a:r>
            <a:r>
              <a:rPr lang="en" sz="1300"/>
              <a:t>synopsis</a:t>
            </a:r>
            <a:r>
              <a:rPr lang="en" sz="1300"/>
              <a:t>, critic </a:t>
            </a:r>
            <a:r>
              <a:rPr lang="en" sz="1300"/>
              <a:t>scores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Combined Dataset: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Individual datasets were cleaned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Combined to include all movies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Similar feature names (synopses, overviews) were mapped to each other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~2000 reviews with source labels</a:t>
            </a:r>
            <a:endParaRPr sz="1300"/>
          </a:p>
        </p:txBody>
      </p:sp>
      <p:sp>
        <p:nvSpPr>
          <p:cNvPr id="358" name="Google Shape;358;p49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 fusion</a:t>
            </a:r>
            <a:endParaRPr sz="1600"/>
          </a:p>
        </p:txBody>
      </p:sp>
      <p:sp>
        <p:nvSpPr>
          <p:cNvPr id="359" name="Google Shape;359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25" y="3761950"/>
            <a:ext cx="5378888" cy="7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Text </a:t>
            </a:r>
            <a:r>
              <a:rPr lang="en" sz="1400"/>
              <a:t>Preprocessing</a:t>
            </a:r>
            <a:r>
              <a:rPr lang="en" sz="1400"/>
              <a:t>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TF-IDF vectorization  (top 5000 features)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Models used for classification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Logistic regression (baseline linear classifier)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Forest classification (ensemble method)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Training: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80/20 train/test split</a:t>
            </a:r>
            <a:endParaRPr sz="1400"/>
          </a:p>
        </p:txBody>
      </p:sp>
      <p:cxnSp>
        <p:nvCxnSpPr>
          <p:cNvPr id="366" name="Google Shape;366;p50"/>
          <p:cNvCxnSpPr/>
          <p:nvPr/>
        </p:nvCxnSpPr>
        <p:spPr>
          <a:xfrm>
            <a:off x="791150" y="462512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5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Methods Used</a:t>
            </a:r>
            <a:endParaRPr sz="1600"/>
          </a:p>
        </p:txBody>
      </p:sp>
      <p:sp>
        <p:nvSpPr>
          <p:cNvPr id="368" name="Google Shape;368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200" y="2571750"/>
            <a:ext cx="2930074" cy="19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4044" y="2401147"/>
            <a:ext cx="3914882" cy="19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idx="1" type="subTitle"/>
          </p:nvPr>
        </p:nvSpPr>
        <p:spPr>
          <a:xfrm>
            <a:off x="480420" y="91601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</a:t>
            </a:r>
            <a:endParaRPr/>
          </a:p>
        </p:txBody>
      </p:sp>
      <p:pic>
        <p:nvPicPr>
          <p:cNvPr id="376" name="Google Shape;37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2913" y="551550"/>
            <a:ext cx="4298167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0308" y="2838450"/>
            <a:ext cx="4343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Post-hoc Analysis </a:t>
            </a:r>
            <a:endParaRPr/>
          </a:p>
        </p:txBody>
      </p:sp>
      <p:sp>
        <p:nvSpPr>
          <p:cNvPr id="383" name="Google Shape;383;p52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Identifies the top words of each platform (feature importance)</a:t>
            </a:r>
            <a:endParaRPr/>
          </a:p>
        </p:txBody>
      </p:sp>
      <p:pic>
        <p:nvPicPr>
          <p:cNvPr id="384" name="Google Shape;38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7275"/>
            <a:ext cx="467590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5900" y="1354412"/>
            <a:ext cx="4477025" cy="21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Conclusion</a:t>
            </a:r>
            <a:endParaRPr sz="1600"/>
          </a:p>
        </p:txBody>
      </p:sp>
      <p:sp>
        <p:nvSpPr>
          <p:cNvPr id="391" name="Google Shape;391;p5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Results: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Successfully</a:t>
            </a:r>
            <a:r>
              <a:rPr lang="en" sz="1500"/>
              <a:t> demonstrated </a:t>
            </a:r>
            <a:r>
              <a:rPr lang="en" sz="1500"/>
              <a:t>feasibility</a:t>
            </a:r>
            <a:r>
              <a:rPr lang="en" sz="1500"/>
              <a:t> of source classification using text alone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Random forest </a:t>
            </a:r>
            <a:r>
              <a:rPr lang="en" sz="1500"/>
              <a:t>outperformed</a:t>
            </a:r>
            <a:r>
              <a:rPr lang="en" sz="1500"/>
              <a:t> </a:t>
            </a:r>
            <a:r>
              <a:rPr lang="en" sz="1500"/>
              <a:t>logistic</a:t>
            </a:r>
            <a:r>
              <a:rPr lang="en" sz="1500"/>
              <a:t> classification by ~12%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Challenges: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Dataset sizes are relatively small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Only uses text for feature importance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Future Work: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Increase imdb and rottentomatoes sample sizes by fusing </a:t>
            </a:r>
            <a:r>
              <a:rPr lang="en" sz="1500"/>
              <a:t>publicly</a:t>
            </a:r>
            <a:r>
              <a:rPr lang="en" sz="1500"/>
              <a:t> available data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web scraping to generate more up-to-date samples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Include deep </a:t>
            </a:r>
            <a:r>
              <a:rPr lang="en" sz="1500"/>
              <a:t>learning</a:t>
            </a:r>
            <a:r>
              <a:rPr lang="en" sz="1500"/>
              <a:t> or additional metadata in training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7" name="Google Shape;397;p54"/>
          <p:cNvSpPr txBox="1"/>
          <p:nvPr>
            <p:ph idx="1" type="body"/>
          </p:nvPr>
        </p:nvSpPr>
        <p:spPr>
          <a:xfrm>
            <a:off x="567029" y="4500404"/>
            <a:ext cx="10158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Raed Karkoub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