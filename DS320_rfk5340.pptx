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314" r:id="rId5"/>
    <p:sldId id="322" r:id="rId6"/>
    <p:sldId id="325" r:id="rId7"/>
    <p:sldId id="343" r:id="rId8"/>
    <p:sldId id="349" r:id="rId9"/>
    <p:sldId id="345" r:id="rId10"/>
    <p:sldId id="346" r:id="rId11"/>
    <p:sldId id="347" r:id="rId12"/>
    <p:sldId id="344" r:id="rId13"/>
    <p:sldId id="34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6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DDFE"/>
    <a:srgbClr val="D4DDFE"/>
    <a:srgbClr val="D5DEFF"/>
    <a:srgbClr val="F6F7FF"/>
    <a:srgbClr val="DBDCE5"/>
    <a:srgbClr val="F0F1FB"/>
    <a:srgbClr val="DFE1F6"/>
    <a:srgbClr val="EEEFF5"/>
    <a:srgbClr val="DFE1EF"/>
    <a:srgbClr val="A9B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5394" autoAdjust="0"/>
  </p:normalViewPr>
  <p:slideViewPr>
    <p:cSldViewPr snapToGrid="0">
      <p:cViewPr>
        <p:scale>
          <a:sx n="47" d="100"/>
          <a:sy n="47" d="100"/>
        </p:scale>
        <p:origin x="53" y="826"/>
      </p:cViewPr>
      <p:guideLst>
        <p:guide orient="horz" pos="1416"/>
        <p:guide orient="horz" pos="1008"/>
        <p:guide pos="3840"/>
      </p:guideLst>
    </p:cSldViewPr>
  </p:slideViewPr>
  <p:outlineViewPr>
    <p:cViewPr>
      <p:scale>
        <a:sx n="33" d="100"/>
        <a:sy n="33" d="100"/>
      </p:scale>
      <p:origin x="0" y="-1036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32BE22-BCF5-218A-BCDB-9D6463B9A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C6B9B-3CD0-9D38-9EB7-8FC9403B85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62055-8DBD-6042-92AC-66DE479F90DE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5B14E-D4D7-1E40-CD23-AE797C2368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512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EE50A-AB77-49BE-9076-23C4C8D08BB2}" type="datetimeFigureOut">
              <a:rPr lang="en-US" smtClean="0"/>
              <a:t>5/2/2025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09883-B744-4FDD-8623-D69A666500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64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02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8233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6908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6245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D18B6-6B3A-5FED-1F2F-49FF99849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0CEE11-5A04-6D9C-C5AC-5DCB6FD40E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6DA37D-CE77-8302-B690-5B48A3BDF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00BC0-5F0D-AAEB-6B96-CAD0048F6A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660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1185" y="629469"/>
            <a:ext cx="8961120" cy="5599062"/>
          </a:xfrm>
        </p:spPr>
        <p:txBody>
          <a:bodyPr lIns="0" tIns="0" rIns="0" bIns="0" anchor="ctr">
            <a:noAutofit/>
          </a:bodyPr>
          <a:lstStyle>
            <a:lvl1pPr mar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A65DB93-2357-6899-3DDD-DC79C877A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29533" y="5801722"/>
            <a:ext cx="2115210" cy="1056278"/>
          </a:xfrm>
          <a:custGeom>
            <a:avLst/>
            <a:gdLst>
              <a:gd name="connsiteX0" fmla="*/ 1057605 w 2115210"/>
              <a:gd name="connsiteY0" fmla="*/ 0 h 1056278"/>
              <a:gd name="connsiteX1" fmla="*/ 2109820 w 2115210"/>
              <a:gd name="connsiteY1" fmla="*/ 949535 h 1056278"/>
              <a:gd name="connsiteX2" fmla="*/ 2115210 w 2115210"/>
              <a:gd name="connsiteY2" fmla="*/ 1056278 h 1056278"/>
              <a:gd name="connsiteX3" fmla="*/ 0 w 2115210"/>
              <a:gd name="connsiteY3" fmla="*/ 1056278 h 1056278"/>
              <a:gd name="connsiteX4" fmla="*/ 5390 w 2115210"/>
              <a:gd name="connsiteY4" fmla="*/ 949535 h 1056278"/>
              <a:gd name="connsiteX5" fmla="*/ 1057605 w 2115210"/>
              <a:gd name="connsiteY5" fmla="*/ 0 h 105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5210" h="1056278">
                <a:moveTo>
                  <a:pt x="1057605" y="0"/>
                </a:moveTo>
                <a:cubicBezTo>
                  <a:pt x="1605234" y="0"/>
                  <a:pt x="2055657" y="416196"/>
                  <a:pt x="2109820" y="949535"/>
                </a:cubicBezTo>
                <a:lnTo>
                  <a:pt x="2115210" y="1056278"/>
                </a:lnTo>
                <a:lnTo>
                  <a:pt x="0" y="1056278"/>
                </a:lnTo>
                <a:lnTo>
                  <a:pt x="5390" y="949535"/>
                </a:lnTo>
                <a:cubicBezTo>
                  <a:pt x="59553" y="416196"/>
                  <a:pt x="509976" y="0"/>
                  <a:pt x="105760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Object 1">
            <a:extLst>
              <a:ext uri="{FF2B5EF4-FFF2-40B4-BE49-F238E27FC236}">
                <a16:creationId xmlns:a16="http://schemas.microsoft.com/office/drawing/2014/main" id="{056E6431-5C32-6197-AA1B-376379431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999852" y="0"/>
            <a:ext cx="1574573" cy="395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3"/>
            <a:ext cx="6400800" cy="1828800"/>
          </a:xfrm>
        </p:spPr>
        <p:txBody>
          <a:bodyPr lIns="0" tIns="0" rIns="0" bIns="0">
            <a:noAutofit/>
          </a:bodyPr>
          <a:lstStyle>
            <a:lvl1pPr>
              <a:defRPr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1AC91-E5AE-A457-178C-6A577DAAF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185" y="2774786"/>
            <a:ext cx="6400800" cy="3257550"/>
          </a:xfrm>
        </p:spPr>
        <p:txBody>
          <a:bodyPr lIns="0"/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D4FED77-2877-7D28-E27C-7BE9F5E73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0785AC1-54EA-61EE-115B-C1910CC60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F0B2CA14-03DC-FC05-7713-E0261B4B2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642" b="69630"/>
          <a:stretch>
            <a:fillRect/>
          </a:stretch>
        </p:blipFill>
        <p:spPr>
          <a:xfrm>
            <a:off x="1" y="4775200"/>
            <a:ext cx="6608233" cy="2082800"/>
          </a:xfrm>
          <a:custGeom>
            <a:avLst/>
            <a:gdLst>
              <a:gd name="connsiteX0" fmla="*/ 0 w 6608233"/>
              <a:gd name="connsiteY0" fmla="*/ 0 h 2082800"/>
              <a:gd name="connsiteX1" fmla="*/ 6608233 w 6608233"/>
              <a:gd name="connsiteY1" fmla="*/ 0 h 2082800"/>
              <a:gd name="connsiteX2" fmla="*/ 6608233 w 6608233"/>
              <a:gd name="connsiteY2" fmla="*/ 2082800 h 2082800"/>
              <a:gd name="connsiteX3" fmla="*/ 0 w 6608233"/>
              <a:gd name="connsiteY3" fmla="*/ 2082800 h 20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8233" h="2082800">
                <a:moveTo>
                  <a:pt x="0" y="0"/>
                </a:moveTo>
                <a:lnTo>
                  <a:pt x="6608233" y="0"/>
                </a:lnTo>
                <a:lnTo>
                  <a:pt x="6608233" y="2082800"/>
                </a:lnTo>
                <a:lnTo>
                  <a:pt x="0" y="2082800"/>
                </a:lnTo>
                <a:close/>
              </a:path>
            </a:pathLst>
          </a:cu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5EC223C2-E475-8E7A-48D4-A9BC2EB69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49382" y="1747860"/>
            <a:ext cx="2692400" cy="2692400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D9D7CE-BCD9-0B12-1945-C5FFE31A7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93014" y="361075"/>
            <a:ext cx="2115351" cy="21153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55275E-28AB-F0B7-E799-5116B11205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827307"/>
            <a:ext cx="6400800" cy="5203387"/>
          </a:xfrm>
        </p:spPr>
        <p:txBody>
          <a:bodyPr lIns="0" tIns="0" rIns="0" bIns="0" anchor="ctr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7BD7E0A-39A9-0CF7-F1CE-E777075BFA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01915" y="304690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ln w="57150">
            <a:noFill/>
          </a:ln>
        </p:spPr>
        <p:txBody>
          <a:bodyPr wrap="square" tIns="137160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163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>
            <a:extLst>
              <a:ext uri="{FF2B5EF4-FFF2-40B4-BE49-F238E27FC236}">
                <a16:creationId xmlns:a16="http://schemas.microsoft.com/office/drawing/2014/main" id="{269C21E5-B8EE-7438-A771-34BC8006E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9385898" y="0"/>
            <a:ext cx="1574573" cy="3954463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18F333FA-6DDE-DB6C-73BB-FE8387977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15508" y="4240999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87953E-96F2-8BCC-B295-E1033E7D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7599718" cy="3051394"/>
          </a:xfrm>
        </p:spPr>
        <p:txBody>
          <a:bodyPr lIns="0" tIns="0" rIns="0" bIns="0"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0A627B70-91C8-40B9-6189-B29749FF6E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1185" y="3965028"/>
            <a:ext cx="7599718" cy="14937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accent4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800" b="1" i="0">
                <a:latin typeface="Arial Black" panose="020B0604020202020204" pitchFamily="34" charset="0"/>
                <a:cs typeface="Arial Black" panose="020B0604020202020204" pitchFamily="34" charset="0"/>
              </a:defRPr>
            </a:lvl2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94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C12813-DBA6-41C2-2418-83919E059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741680" y="0"/>
            <a:ext cx="2133966" cy="2133966"/>
            <a:chOff x="9654699" y="2229295"/>
            <a:chExt cx="2133966" cy="2133966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2A74540-7988-B712-8AB1-9EE03FE1EC8A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6CF9A1-91DA-6419-08F2-4CC262EA4D1E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AAAE3BC0-55AE-B520-F2B8-50BF886EF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 flipH="1" flipV="1">
            <a:off x="0" y="3626779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B29A2F3-C289-9762-6F9F-DA18D322D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0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2A1870-E86B-5125-7AB3-A1F5DF7E752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53000" y="2768043"/>
            <a:ext cx="6400799" cy="3231221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1FE2A1C-A3CC-9D8B-DE44-FDE1132F7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3C454DD-C924-8468-6944-AF53508CD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825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3051393"/>
          </a:xfrm>
        </p:spPr>
        <p:txBody>
          <a:bodyPr lIns="0" tIns="0" rIns="0" bIns="0" anchor="b">
            <a:noAutofit/>
          </a:bodyPr>
          <a:lstStyle>
            <a:lvl1pPr>
              <a:defRPr sz="54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0CDAE70-42DC-AB0D-6734-B9944B799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185" y="3965028"/>
            <a:ext cx="6400799" cy="1966747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b="1" i="0" dirty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pPr marL="228600" lvl="0" indent="-228600"/>
            <a:r>
              <a:rPr lang="en-US" dirty="0"/>
              <a:t>Click to add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8EDAF-6CF8-D96E-EB91-CAFEBE0CA1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91187" y="247518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solidFill>
            <a:schemeClr val="accent3"/>
          </a:solidFill>
          <a:ln w="57150">
            <a:noFill/>
          </a:ln>
        </p:spPr>
        <p:txBody>
          <a:bodyPr wrap="square" tIns="11887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148B4D-CB0B-8B95-BA58-B33DE0530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895145-43B3-C337-08C1-C009F83D8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88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22F8239-92F5-595B-5DD3-ACBA1C19E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2969"/>
          <a:stretch/>
        </p:blipFill>
        <p:spPr>
          <a:xfrm>
            <a:off x="3459002" y="5609995"/>
            <a:ext cx="7328137" cy="1248005"/>
          </a:xfrm>
          <a:custGeom>
            <a:avLst/>
            <a:gdLst>
              <a:gd name="connsiteX0" fmla="*/ 0 w 7328137"/>
              <a:gd name="connsiteY0" fmla="*/ 0 h 1912980"/>
              <a:gd name="connsiteX1" fmla="*/ 7328137 w 7328137"/>
              <a:gd name="connsiteY1" fmla="*/ 0 h 1912980"/>
              <a:gd name="connsiteX2" fmla="*/ 7328137 w 7328137"/>
              <a:gd name="connsiteY2" fmla="*/ 1912980 h 1912980"/>
              <a:gd name="connsiteX3" fmla="*/ 0 w 7328137"/>
              <a:gd name="connsiteY3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8137" h="1912980">
                <a:moveTo>
                  <a:pt x="0" y="0"/>
                </a:moveTo>
                <a:lnTo>
                  <a:pt x="7328137" y="0"/>
                </a:lnTo>
                <a:lnTo>
                  <a:pt x="7328137" y="1912980"/>
                </a:lnTo>
                <a:lnTo>
                  <a:pt x="0" y="191298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F9E987C-6F3E-FB11-D796-2D5F9075A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0"/>
            <a:ext cx="2133966" cy="2133966"/>
            <a:chOff x="9654699" y="2229295"/>
            <a:chExt cx="2133966" cy="21339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3342B09-3192-492F-3F5F-19163C83F9EE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62E2B15-36A9-C2C7-6306-EEA512B646D0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52DD956C-BC83-8F97-6FF5-5A11028F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21792"/>
            <a:ext cx="8180412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612ED1-3CD3-8532-2C92-777F6D005F1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38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4BCE7-3651-7CA3-1353-9B2526D267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4217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886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">
            <a:extLst>
              <a:ext uri="{FF2B5EF4-FFF2-40B4-BE49-F238E27FC236}">
                <a16:creationId xmlns:a16="http://schemas.microsoft.com/office/drawing/2014/main" id="{83F8143D-16B1-4CE2-1910-9E5074922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0800000">
            <a:off x="1084203" y="4586286"/>
            <a:ext cx="1574573" cy="2271713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F6BE63D1-6CC6-AD50-D587-0514090FB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13816" y="2184400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05155"/>
            <a:ext cx="10571734" cy="1160145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DE6614-889D-2DB5-4C2F-DCBD22BA3B2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835400" y="2185127"/>
            <a:ext cx="2736849" cy="4067717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051560" indent="-228600">
              <a:buFont typeface="+mj-lt"/>
              <a:buAutoNum type="alphaLcParenR"/>
              <a:defRPr sz="1800"/>
            </a:lvl4pPr>
            <a:lvl5pPr marL="1417320" indent="-2286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B2B871-B646-8E1E-CD57-2224B2D4E59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221564" y="2184400"/>
            <a:ext cx="4156619" cy="4046290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698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78285"/>
          <a:stretch/>
        </p:blipFill>
        <p:spPr>
          <a:xfrm>
            <a:off x="0" y="5368807"/>
            <a:ext cx="3769950" cy="1489194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6275416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FE945C7-CAAC-C9B4-0B56-EC62E53C8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82467" y="5439854"/>
            <a:ext cx="1096391" cy="10963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 4">
            <a:extLst>
              <a:ext uri="{FF2B5EF4-FFF2-40B4-BE49-F238E27FC236}">
                <a16:creationId xmlns:a16="http://schemas.microsoft.com/office/drawing/2014/main" id="{E58C5299-758C-70DA-D929-E0BC719E9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16629" y="3758740"/>
            <a:ext cx="2130921" cy="2130921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A4C6AC-F9E8-412E-2D6B-9FDD07ADDE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0330" y="2771566"/>
            <a:ext cx="6275387" cy="3271324"/>
          </a:xfrm>
        </p:spPr>
        <p:txBody>
          <a:bodyPr lIns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0463C33-FF99-2443-BE5D-682AC8CB8B7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09054" y="459137"/>
            <a:ext cx="4126800" cy="4126800"/>
          </a:xfrm>
          <a:custGeom>
            <a:avLst/>
            <a:gdLst>
              <a:gd name="connsiteX0" fmla="*/ 2063400 w 4126800"/>
              <a:gd name="connsiteY0" fmla="*/ 0 h 4126800"/>
              <a:gd name="connsiteX1" fmla="*/ 4126800 w 4126800"/>
              <a:gd name="connsiteY1" fmla="*/ 2063400 h 4126800"/>
              <a:gd name="connsiteX2" fmla="*/ 2063400 w 4126800"/>
              <a:gd name="connsiteY2" fmla="*/ 4126800 h 4126800"/>
              <a:gd name="connsiteX3" fmla="*/ 0 w 4126800"/>
              <a:gd name="connsiteY3" fmla="*/ 2063400 h 4126800"/>
              <a:gd name="connsiteX4" fmla="*/ 2063400 w 4126800"/>
              <a:gd name="connsiteY4" fmla="*/ 0 h 412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6800" h="4126800">
                <a:moveTo>
                  <a:pt x="2063400" y="0"/>
                </a:moveTo>
                <a:cubicBezTo>
                  <a:pt x="3202984" y="0"/>
                  <a:pt x="4126800" y="923816"/>
                  <a:pt x="4126800" y="2063400"/>
                </a:cubicBezTo>
                <a:cubicBezTo>
                  <a:pt x="4126800" y="3202984"/>
                  <a:pt x="3202984" y="4126800"/>
                  <a:pt x="2063400" y="4126800"/>
                </a:cubicBezTo>
                <a:cubicBezTo>
                  <a:pt x="923816" y="4126800"/>
                  <a:pt x="0" y="3202984"/>
                  <a:pt x="0" y="2063400"/>
                </a:cubicBezTo>
                <a:cubicBezTo>
                  <a:pt x="0" y="923816"/>
                  <a:pt x="923816" y="0"/>
                  <a:pt x="2063400" y="0"/>
                </a:cubicBezTo>
                <a:close/>
              </a:path>
            </a:pathLst>
          </a:custGeom>
        </p:spPr>
        <p:txBody>
          <a:bodyPr wrap="square" tIns="7315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806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D978EB2-1AE7-BB87-954B-F3DBF5080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10569634" cy="1801793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06BDC3-2B84-117A-BF71-A331C1DD6BC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3" y="2796209"/>
            <a:ext cx="3657598" cy="3147392"/>
          </a:xfrm>
        </p:spPr>
        <p:txBody>
          <a:bodyPr lIns="0" tIns="0" rIns="0" bIns="0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4D2A92BD-8372-F61F-9551-6FA12079139B}"/>
              </a:ext>
            </a:extLst>
          </p:cNvPr>
          <p:cNvSpPr>
            <a:spLocks noGrp="1"/>
          </p:cNvSpPr>
          <p:nvPr>
            <p:ph type="tbl" sz="quarter" idx="28" hasCustomPrompt="1"/>
          </p:nvPr>
        </p:nvSpPr>
        <p:spPr>
          <a:xfrm>
            <a:off x="4902200" y="2795588"/>
            <a:ext cx="6478617" cy="314801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61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9EF52E1-6F3C-5D9B-32DC-A156BDDE2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647" b="86709"/>
          <a:stretch/>
        </p:blipFill>
        <p:spPr>
          <a:xfrm>
            <a:off x="-1" y="5946505"/>
            <a:ext cx="5304866" cy="911495"/>
          </a:xfrm>
          <a:custGeom>
            <a:avLst/>
            <a:gdLst>
              <a:gd name="connsiteX0" fmla="*/ 0 w 5304866"/>
              <a:gd name="connsiteY0" fmla="*/ 0 h 1912980"/>
              <a:gd name="connsiteX1" fmla="*/ 5304866 w 5304866"/>
              <a:gd name="connsiteY1" fmla="*/ 0 h 1912980"/>
              <a:gd name="connsiteX2" fmla="*/ 5304866 w 5304866"/>
              <a:gd name="connsiteY2" fmla="*/ 1912980 h 1912980"/>
              <a:gd name="connsiteX3" fmla="*/ 5304865 w 5304866"/>
              <a:gd name="connsiteY3" fmla="*/ 1912980 h 1912980"/>
              <a:gd name="connsiteX4" fmla="*/ 0 w 5304866"/>
              <a:gd name="connsiteY4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4866" h="1912980">
                <a:moveTo>
                  <a:pt x="0" y="0"/>
                </a:moveTo>
                <a:lnTo>
                  <a:pt x="5304866" y="0"/>
                </a:lnTo>
                <a:lnTo>
                  <a:pt x="5304866" y="1912980"/>
                </a:lnTo>
                <a:lnTo>
                  <a:pt x="5304865" y="1912980"/>
                </a:lnTo>
                <a:lnTo>
                  <a:pt x="0" y="1912980"/>
                </a:lnTo>
                <a:close/>
              </a:path>
            </a:pathLst>
          </a:cu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4510996E-0672-63AB-DCBF-25B251B2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7680" y="0"/>
            <a:ext cx="1694321" cy="2692400"/>
          </a:xfrm>
          <a:custGeom>
            <a:avLst/>
            <a:gdLst>
              <a:gd name="connsiteX0" fmla="*/ 1346200 w 1694321"/>
              <a:gd name="connsiteY0" fmla="*/ 0 h 2692400"/>
              <a:gd name="connsiteX1" fmla="*/ 1617506 w 1694321"/>
              <a:gd name="connsiteY1" fmla="*/ 27350 h 2692400"/>
              <a:gd name="connsiteX2" fmla="*/ 1694321 w 1694321"/>
              <a:gd name="connsiteY2" fmla="*/ 47101 h 2692400"/>
              <a:gd name="connsiteX3" fmla="*/ 1694321 w 1694321"/>
              <a:gd name="connsiteY3" fmla="*/ 528114 h 2692400"/>
              <a:gd name="connsiteX4" fmla="*/ 1692265 w 1694321"/>
              <a:gd name="connsiteY4" fmla="*/ 526998 h 2692400"/>
              <a:gd name="connsiteX5" fmla="*/ 1346199 w 1694321"/>
              <a:gd name="connsiteY5" fmla="*/ 457130 h 2692400"/>
              <a:gd name="connsiteX6" fmla="*/ 457130 w 1694321"/>
              <a:gd name="connsiteY6" fmla="*/ 1346199 h 2692400"/>
              <a:gd name="connsiteX7" fmla="*/ 1346199 w 1694321"/>
              <a:gd name="connsiteY7" fmla="*/ 2235268 h 2692400"/>
              <a:gd name="connsiteX8" fmla="*/ 1692265 w 1694321"/>
              <a:gd name="connsiteY8" fmla="*/ 2165401 h 2692400"/>
              <a:gd name="connsiteX9" fmla="*/ 1694321 w 1694321"/>
              <a:gd name="connsiteY9" fmla="*/ 2164285 h 2692400"/>
              <a:gd name="connsiteX10" fmla="*/ 1694321 w 1694321"/>
              <a:gd name="connsiteY10" fmla="*/ 2645299 h 2692400"/>
              <a:gd name="connsiteX11" fmla="*/ 1617506 w 1694321"/>
              <a:gd name="connsiteY11" fmla="*/ 2665050 h 2692400"/>
              <a:gd name="connsiteX12" fmla="*/ 1346200 w 1694321"/>
              <a:gd name="connsiteY12" fmla="*/ 2692400 h 2692400"/>
              <a:gd name="connsiteX13" fmla="*/ 0 w 1694321"/>
              <a:gd name="connsiteY13" fmla="*/ 1346200 h 2692400"/>
              <a:gd name="connsiteX14" fmla="*/ 1346200 w 1694321"/>
              <a:gd name="connsiteY14" fmla="*/ 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94321" h="2692400">
                <a:moveTo>
                  <a:pt x="1346200" y="0"/>
                </a:moveTo>
                <a:cubicBezTo>
                  <a:pt x="1439136" y="0"/>
                  <a:pt x="1529872" y="9417"/>
                  <a:pt x="1617506" y="27350"/>
                </a:cubicBezTo>
                <a:lnTo>
                  <a:pt x="1694321" y="47101"/>
                </a:lnTo>
                <a:lnTo>
                  <a:pt x="1694321" y="528114"/>
                </a:lnTo>
                <a:lnTo>
                  <a:pt x="1692265" y="526998"/>
                </a:lnTo>
                <a:cubicBezTo>
                  <a:pt x="1585898" y="482008"/>
                  <a:pt x="1468954" y="457130"/>
                  <a:pt x="1346199" y="457130"/>
                </a:cubicBez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468954" y="2235268"/>
                  <a:pt x="1585898" y="2210390"/>
                  <a:pt x="1692265" y="2165401"/>
                </a:cubicBezTo>
                <a:lnTo>
                  <a:pt x="1694321" y="2164285"/>
                </a:lnTo>
                <a:lnTo>
                  <a:pt x="1694321" y="2645299"/>
                </a:lnTo>
                <a:lnTo>
                  <a:pt x="1617506" y="2665050"/>
                </a:lnTo>
                <a:cubicBezTo>
                  <a:pt x="1529872" y="2682983"/>
                  <a:pt x="143913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2B4D4-87FA-ACC4-A0FD-E98B07CE98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5" y="3067050"/>
            <a:ext cx="6400800" cy="30480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800"/>
            </a:lvl2pPr>
            <a:lvl3pPr marL="685800">
              <a:defRPr sz="1800"/>
            </a:lvl3pPr>
            <a:lvl4pPr marL="1051560">
              <a:defRPr sz="1800"/>
            </a:lvl4pPr>
            <a:lvl5pPr marL="141732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8F85D-7A7F-3D36-8C6A-6589D66D2AF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861300" y="3067050"/>
            <a:ext cx="3519515" cy="3048000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165860" indent="-342900">
              <a:buFont typeface="+mj-lt"/>
              <a:buAutoNum type="alphaLcPeriod"/>
              <a:defRPr sz="1800"/>
            </a:lvl4pPr>
            <a:lvl5pPr marL="1531620" indent="-3429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94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028" b="67254"/>
          <a:stretch>
            <a:fillRect/>
          </a:stretch>
        </p:blipFill>
        <p:spPr>
          <a:xfrm>
            <a:off x="0" y="4612248"/>
            <a:ext cx="3769950" cy="2245753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7309086" cy="1828800"/>
          </a:xfrm>
        </p:spPr>
        <p:txBody>
          <a:bodyPr lIns="0" tIns="0" rIns="0" bIns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3E0C7AAD-1535-12DC-133E-2253BF501721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811183" y="2757488"/>
            <a:ext cx="10548967" cy="3399964"/>
          </a:xfrm>
        </p:spPr>
        <p:txBody>
          <a:bodyPr/>
          <a:lstStyle/>
          <a:p>
            <a:r>
              <a:rPr lang="en-US" dirty="0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974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8AC6985-AA41-BCAE-CEDF-E736D973B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612647"/>
            <a:ext cx="10002589" cy="3657600"/>
          </a:xfrm>
        </p:spPr>
        <p:txBody>
          <a:bodyPr lIns="0" tIns="0" rIns="0" bIns="0" anchor="b">
            <a:noAutofit/>
          </a:bodyPr>
          <a:lstStyle>
            <a:lvl1pPr mar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7B85660-94E4-85D1-95CA-415513A035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1185" y="4724033"/>
            <a:ext cx="7000972" cy="170942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CAF5C0-1B51-02B5-924D-230575353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4724034"/>
            <a:ext cx="2133966" cy="2133966"/>
            <a:chOff x="9654699" y="2229295"/>
            <a:chExt cx="2133966" cy="2133966"/>
          </a:xfrm>
        </p:grpSpPr>
        <p:sp>
          <p:nvSpPr>
            <p:cNvPr id="3" name="Freeform 11">
              <a:extLst>
                <a:ext uri="{FF2B5EF4-FFF2-40B4-BE49-F238E27FC236}">
                  <a16:creationId xmlns:a16="http://schemas.microsoft.com/office/drawing/2014/main" id="{41AAE8D5-8E6A-7CBE-9018-DD8F3493D049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C694532E-B147-38A2-55EE-24483385016A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114B3BE5-2D39-542C-00BB-A940C568E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52884" r="34757"/>
          <a:stretch>
            <a:fillRect/>
          </a:stretch>
        </p:blipFill>
        <p:spPr>
          <a:xfrm>
            <a:off x="7717670" y="0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10569630" cy="1068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1185" y="1825625"/>
            <a:ext cx="1056963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5" r:id="rId3"/>
    <p:sldLayoutId id="2147483683" r:id="rId4"/>
    <p:sldLayoutId id="2147483684" r:id="rId5"/>
    <p:sldLayoutId id="2147483685" r:id="rId6"/>
    <p:sldLayoutId id="2147483671" r:id="rId7"/>
    <p:sldLayoutId id="2147483679" r:id="rId8"/>
    <p:sldLayoutId id="2147483676" r:id="rId9"/>
    <p:sldLayoutId id="2147483669" r:id="rId10"/>
    <p:sldLayoutId id="2147483673" r:id="rId11"/>
    <p:sldLayoutId id="2147483682" r:id="rId12"/>
    <p:sldLayoutId id="2147483656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spc="100" baseline="0">
          <a:solidFill>
            <a:schemeClr val="bg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thedevastator/rotten-tomatoes-top-movies-ratings-and-technical" TargetMode="External"/><Relationship Id="rId2" Type="http://schemas.openxmlformats.org/officeDocument/2006/relationships/hyperlink" Target="https://www.kaggle.com/datasets/harshitshankhdhar/imdb-dataset-of-top-1000-movies-and-tv-shows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15D2-7F57-AF2A-38D7-5580987890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5" y="629469"/>
            <a:ext cx="8961120" cy="1450497"/>
          </a:xfrm>
        </p:spPr>
        <p:txBody>
          <a:bodyPr/>
          <a:lstStyle/>
          <a:p>
            <a:r>
              <a:rPr lang="en-US" sz="4400" dirty="0"/>
              <a:t>Text-Based Classification of Movie Reviews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C50E070E-01BB-1665-7DF8-AE95EA8BD365}"/>
              </a:ext>
            </a:extLst>
          </p:cNvPr>
          <p:cNvSpPr txBox="1">
            <a:spLocks/>
          </p:cNvSpPr>
          <p:nvPr/>
        </p:nvSpPr>
        <p:spPr>
          <a:xfrm>
            <a:off x="811185" y="2162379"/>
            <a:ext cx="9592568" cy="29786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Team members</a:t>
            </a:r>
          </a:p>
          <a:p>
            <a:pPr marL="697230" lvl="1" indent="-285750"/>
            <a:r>
              <a:rPr lang="en-US" dirty="0"/>
              <a:t>Raed Karkoub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0D09DC-956F-328D-9CAD-A880AEF41F45}"/>
              </a:ext>
            </a:extLst>
          </p:cNvPr>
          <p:cNvSpPr txBox="1">
            <a:spLocks/>
          </p:cNvSpPr>
          <p:nvPr/>
        </p:nvSpPr>
        <p:spPr>
          <a:xfrm>
            <a:off x="724192" y="5324595"/>
            <a:ext cx="9592568" cy="122770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Contact member</a:t>
            </a:r>
          </a:p>
          <a:p>
            <a:pPr lvl="1"/>
            <a:r>
              <a:rPr lang="en-US" dirty="0"/>
              <a:t>Raed Karkoub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A48BC5-57EC-F7E6-56DE-1D3C10AE6AC5}"/>
              </a:ext>
            </a:extLst>
          </p:cNvPr>
          <p:cNvSpPr txBox="1"/>
          <p:nvPr/>
        </p:nvSpPr>
        <p:spPr>
          <a:xfrm>
            <a:off x="10230422" y="6094692"/>
            <a:ext cx="14934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spc="100" dirty="0">
                <a:solidFill>
                  <a:schemeClr val="bg1"/>
                </a:solidFill>
                <a:latin typeface="+mj-lt"/>
                <a:ea typeface="+mj-ea"/>
              </a:rPr>
              <a:t>B13</a:t>
            </a:r>
          </a:p>
        </p:txBody>
      </p:sp>
    </p:spTree>
    <p:extLst>
      <p:ext uri="{BB962C8B-B14F-4D97-AF65-F5344CB8AC3E}">
        <p14:creationId xmlns:p14="http://schemas.microsoft.com/office/powerpoint/2010/main" val="3421401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348845-3852-D4E6-EF42-8024EAC0E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621792"/>
            <a:ext cx="8180412" cy="661508"/>
          </a:xfrm>
        </p:spPr>
        <p:txBody>
          <a:bodyPr/>
          <a:lstStyle/>
          <a:p>
            <a:r>
              <a:rPr lang="en-US" dirty="0"/>
              <a:t>Background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5AE87B-E37F-614C-6EE5-D03C01018C99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13816" y="1514843"/>
            <a:ext cx="4956470" cy="4554083"/>
          </a:xfrm>
        </p:spPr>
        <p:txBody>
          <a:bodyPr/>
          <a:lstStyle/>
          <a:p>
            <a:pPr marL="569214" lvl="1" indent="-285750"/>
            <a:r>
              <a:rPr lang="en-US" dirty="0"/>
              <a:t>IMDB and </a:t>
            </a:r>
            <a:r>
              <a:rPr lang="en-US" dirty="0" err="1"/>
              <a:t>RottenTomatoes</a:t>
            </a:r>
            <a:r>
              <a:rPr lang="en-US" dirty="0"/>
              <a:t> are the two biggest movie critics out there</a:t>
            </a:r>
          </a:p>
          <a:p>
            <a:pPr marL="569214" lvl="1" indent="-285750"/>
            <a:r>
              <a:rPr lang="en-US" dirty="0"/>
              <a:t>Research Question:</a:t>
            </a:r>
          </a:p>
          <a:p>
            <a:pPr marL="569214" lvl="1" indent="-285750"/>
            <a:r>
              <a:rPr lang="en-US" dirty="0"/>
              <a:t>Can we accurately classify whether a movie review originates from IDMB or </a:t>
            </a:r>
            <a:r>
              <a:rPr lang="en-US" dirty="0" err="1"/>
              <a:t>rottentomatoes</a:t>
            </a:r>
            <a:r>
              <a:rPr lang="en-US" dirty="0"/>
              <a:t> using text-based features?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C3C4DCF-F587-D26C-2D98-5A66A2F957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2486" y="3791884"/>
            <a:ext cx="3279213" cy="1653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D7087CD-3D6A-C977-3E3E-BD443D9314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816" y="3791884"/>
            <a:ext cx="5128333" cy="1465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555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A7019F-FB8F-0842-186B-1C366F52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2"/>
            <a:ext cx="6400800" cy="661328"/>
          </a:xfrm>
        </p:spPr>
        <p:txBody>
          <a:bodyPr/>
          <a:lstStyle/>
          <a:p>
            <a:r>
              <a:rPr lang="en-US" dirty="0"/>
              <a:t>Methods - Data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96622-BFDE-D806-F80F-CB3D2EE19A5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11185" y="1526616"/>
            <a:ext cx="9592568" cy="4588434"/>
          </a:xfrm>
        </p:spPr>
        <p:txBody>
          <a:bodyPr/>
          <a:lstStyle/>
          <a:p>
            <a:r>
              <a:rPr lang="en-US" dirty="0"/>
              <a:t>Combined two separate datasets, matching columns together</a:t>
            </a:r>
          </a:p>
          <a:p>
            <a:pPr marL="697230" lvl="1" indent="-285750"/>
            <a:r>
              <a:rPr lang="en-US" dirty="0"/>
              <a:t>IMDB Top 1000 movies</a:t>
            </a:r>
          </a:p>
          <a:p>
            <a:pPr marL="971550" lvl="2" indent="-285750"/>
            <a:r>
              <a:rPr lang="en-US" dirty="0" err="1"/>
              <a:t>Series_title</a:t>
            </a:r>
            <a:r>
              <a:rPr lang="en-US" dirty="0"/>
              <a:t>, Overview, </a:t>
            </a:r>
            <a:r>
              <a:rPr lang="en-US" dirty="0" err="1"/>
              <a:t>IMDB_rating</a:t>
            </a:r>
            <a:r>
              <a:rPr lang="en-US" dirty="0"/>
              <a:t>, </a:t>
            </a:r>
            <a:r>
              <a:rPr lang="en-US" dirty="0" err="1"/>
              <a:t>Released_year</a:t>
            </a:r>
            <a:endParaRPr lang="en-US" dirty="0"/>
          </a:p>
          <a:p>
            <a:pPr marL="697230" lvl="1" indent="-285750"/>
            <a:r>
              <a:rPr lang="en-US" dirty="0" err="1"/>
              <a:t>RottenTomatoes</a:t>
            </a:r>
            <a:r>
              <a:rPr lang="en-US" dirty="0"/>
              <a:t> Top movies</a:t>
            </a:r>
          </a:p>
          <a:p>
            <a:pPr marL="971550" lvl="2" indent="-285750"/>
            <a:r>
              <a:rPr lang="en-US" dirty="0"/>
              <a:t>Title, synopsis, </a:t>
            </a:r>
            <a:r>
              <a:rPr lang="en-US" dirty="0" err="1"/>
              <a:t>critic_score</a:t>
            </a:r>
            <a:r>
              <a:rPr lang="en-US" dirty="0"/>
              <a:t>, year</a:t>
            </a:r>
          </a:p>
          <a:p>
            <a:pPr marL="697230" lvl="1" indent="-285750"/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D15A4DB-F737-38CB-FDDD-D3B5E3E6C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82398"/>
            <a:ext cx="11248570" cy="151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D944B9-4CA9-BFD6-A4F1-561C4170E8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0756" y="2583414"/>
            <a:ext cx="3970296" cy="2474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303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A7019F-FB8F-0842-186B-1C366F527A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2"/>
            <a:ext cx="6400800" cy="661328"/>
          </a:xfrm>
        </p:spPr>
        <p:txBody>
          <a:bodyPr/>
          <a:lstStyle/>
          <a:p>
            <a:r>
              <a:rPr lang="en-US" dirty="0"/>
              <a:t>Methods - Approach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96622-BFDE-D806-F80F-CB3D2EE19A50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11185" y="1526616"/>
            <a:ext cx="9592568" cy="4588434"/>
          </a:xfrm>
        </p:spPr>
        <p:txBody>
          <a:bodyPr/>
          <a:lstStyle/>
          <a:p>
            <a:r>
              <a:rPr lang="en-US" dirty="0"/>
              <a:t>Models used: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Logistic regression (Baseline Linear Classifier)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 Forest classification (ensemble method)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80/20 training split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A58367E-6E86-2EE0-68AB-59EF78B21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185" y="3162981"/>
            <a:ext cx="4185358" cy="279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12C546DF-88D2-E307-BF9E-5A5C26DC5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3962" y="3162980"/>
            <a:ext cx="6146096" cy="3073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6340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E4FC3-B799-D0CA-D79E-EF9037B863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– Use of ChatGPT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51EE93-E8B2-3025-3E0A-3891C3D15195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11185" y="1905000"/>
            <a:ext cx="6400800" cy="30480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 used </a:t>
            </a:r>
            <a:r>
              <a:rPr lang="en-US" dirty="0" err="1"/>
              <a:t>chatgpt</a:t>
            </a:r>
            <a:r>
              <a:rPr lang="en-US" dirty="0"/>
              <a:t> to find datasets with similar feature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Chatgpt</a:t>
            </a:r>
            <a:r>
              <a:rPr lang="en-US" dirty="0"/>
              <a:t> helped me improve slides, including wording of titles and sections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Chatgpt</a:t>
            </a:r>
            <a:r>
              <a:rPr lang="en-US" dirty="0"/>
              <a:t> helped me improve the code, I create the pipeline individually then it enhanced it by debugging and adding safety measures.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2957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316F9-D5C5-E88E-A08A-78DD98826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752DE7B1-7200-80EF-1F51-00CBBC85D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2"/>
            <a:ext cx="6400800" cy="661328"/>
          </a:xfrm>
        </p:spPr>
        <p:txBody>
          <a:bodyPr/>
          <a:lstStyle/>
          <a:p>
            <a:r>
              <a:rPr lang="en-US" dirty="0"/>
              <a:t>Results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476E5374-08C4-DC98-6F2E-0D50D7A3AB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230" y="1521068"/>
            <a:ext cx="5161007" cy="2767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>
            <a:extLst>
              <a:ext uri="{FF2B5EF4-FFF2-40B4-BE49-F238E27FC236}">
                <a16:creationId xmlns:a16="http://schemas.microsoft.com/office/drawing/2014/main" id="{C0CC46F6-85E9-76F3-246C-5B2790A90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0443" y="2676367"/>
            <a:ext cx="5215355" cy="27677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38464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221FB-13E1-F44E-75EF-2C4335EC2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Post-Hoc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2E125-F7FC-8226-1514-FC11129E06AF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11185" y="1543050"/>
            <a:ext cx="6400800" cy="3048000"/>
          </a:xfrm>
        </p:spPr>
        <p:txBody>
          <a:bodyPr/>
          <a:lstStyle/>
          <a:p>
            <a:r>
              <a:rPr lang="en-US" dirty="0"/>
              <a:t>Text Processing: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TF-IDF vectorization (top 5000 features used if applicable)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2807DC9-6874-F330-BC57-478C5FDE4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314" y="2845004"/>
            <a:ext cx="5472792" cy="2742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78B6400D-367E-F38B-C60C-FB1F13B81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106" y="2845004"/>
            <a:ext cx="5681709" cy="2752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3876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4B20B-E716-E297-6B0E-9FB1D1FFA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288A2-5CA3-05A3-38FE-291DF0944C18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11185" y="1728108"/>
            <a:ext cx="6400800" cy="30480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a weighing factor to the models to integrate with </a:t>
            </a:r>
            <a:r>
              <a:rPr lang="en-US" dirty="0" err="1"/>
              <a:t>eachother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Expand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Instead of merging datasets, I could join datasets to evaluate how IMDB and </a:t>
            </a:r>
            <a:r>
              <a:rPr lang="en-US" dirty="0" err="1"/>
              <a:t>Rottentomatoes</a:t>
            </a:r>
            <a:r>
              <a:rPr lang="en-US" dirty="0"/>
              <a:t> differ on the same movies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Improve TF-IDF by removing common words</a:t>
            </a:r>
          </a:p>
        </p:txBody>
      </p:sp>
    </p:spTree>
    <p:extLst>
      <p:ext uri="{BB962C8B-B14F-4D97-AF65-F5344CB8AC3E}">
        <p14:creationId xmlns:p14="http://schemas.microsoft.com/office/powerpoint/2010/main" val="1556026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99FB1-A123-1064-45DD-57975592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7309086" cy="1136187"/>
          </a:xfrm>
        </p:spPr>
        <p:txBody>
          <a:bodyPr/>
          <a:lstStyle/>
          <a:p>
            <a:r>
              <a:rPr lang="en-US" dirty="0"/>
              <a:t>Why the project fits the DS320 requirements?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F5DA28DC-9E44-35FF-14DE-EBA4CA9078F0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811183" y="1934761"/>
            <a:ext cx="10548967" cy="4222691"/>
          </a:xfrm>
        </p:spPr>
        <p:txBody>
          <a:bodyPr/>
          <a:lstStyle/>
          <a:p>
            <a:r>
              <a:rPr lang="en-US" dirty="0"/>
              <a:t>The project fits the requirements because:</a:t>
            </a:r>
          </a:p>
          <a:p>
            <a:pPr lvl="1"/>
            <a:r>
              <a:rPr lang="en-US" dirty="0"/>
              <a:t>Uses data fusion to combine multi-views into one large dataset </a:t>
            </a:r>
          </a:p>
          <a:p>
            <a:pPr lvl="1"/>
            <a:r>
              <a:rPr lang="en-US" dirty="0"/>
              <a:t>Aligned schemas to merge into one dataset and added labels to track origin</a:t>
            </a:r>
          </a:p>
          <a:p>
            <a:pPr lvl="1"/>
            <a:r>
              <a:rPr lang="en-US" dirty="0"/>
              <a:t>Applied predictive models (logistic regression and random forest)</a:t>
            </a:r>
          </a:p>
          <a:p>
            <a:pPr lvl="1"/>
            <a:r>
              <a:rPr lang="en-US" dirty="0"/>
              <a:t>Reported multiple metrics</a:t>
            </a:r>
          </a:p>
          <a:p>
            <a:pPr lvl="1"/>
            <a:r>
              <a:rPr lang="en-US" dirty="0"/>
              <a:t>Post-hoc analysis </a:t>
            </a:r>
          </a:p>
        </p:txBody>
      </p:sp>
    </p:spTree>
    <p:extLst>
      <p:ext uri="{BB962C8B-B14F-4D97-AF65-F5344CB8AC3E}">
        <p14:creationId xmlns:p14="http://schemas.microsoft.com/office/powerpoint/2010/main" val="2498653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0DBEF-396D-3309-9444-A565B17AB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 to Project</a:t>
            </a:r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8427800D-D5A3-23FA-0B83-12F730DC5A56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831849" y="1729018"/>
            <a:ext cx="10548967" cy="3399964"/>
          </a:xfrm>
        </p:spPr>
        <p:txBody>
          <a:bodyPr/>
          <a:lstStyle/>
          <a:p>
            <a:r>
              <a:rPr lang="en-US" dirty="0"/>
              <a:t>IMDB dataset (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https://www.kaggle.com/datasets/harshitshankhdhar/imdb-dataset-of-top-1000-movies-and-tv-shows</a:t>
            </a:r>
            <a:r>
              <a:rPr lang="en-US" dirty="0"/>
              <a:t>)</a:t>
            </a:r>
          </a:p>
          <a:p>
            <a:r>
              <a:rPr lang="en-US" dirty="0" err="1"/>
              <a:t>RottenTomatoes</a:t>
            </a:r>
            <a:r>
              <a:rPr lang="en-US" dirty="0"/>
              <a:t> dataset(</a:t>
            </a:r>
            <a:r>
              <a:rPr lang="en-US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https://www.kaggle.com/datasets/thedevastator/rotten-tomatoes-top-movies-ratings-and-technical</a:t>
            </a:r>
            <a:r>
              <a:rPr lang="en-US" dirty="0"/>
              <a:t>)</a:t>
            </a:r>
          </a:p>
          <a:p>
            <a:r>
              <a:rPr lang="en-US" dirty="0" err="1"/>
              <a:t>Github</a:t>
            </a:r>
            <a:r>
              <a:rPr lang="en-US" dirty="0"/>
              <a:t> Link (https://github.com/Rkarkoub03/DS320.git)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96387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Custom 12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3460604_win32_SL_V10" id="{99B34821-6204-44CE-8DD7-2088F7B07FF3}" vid="{E244DE33-B49D-4797-B149-ADA6E5DF59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7C52C5-6F65-4D42-B855-A3283C55581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354E976-D9B8-49D6-BB1E-30B410663C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5B6D968-3BA5-45CA-AFA4-01F84FB04FA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{51B43A9C-5ED3-4153-B1D3-5FA1DAAA350A}tf03460604_win32</Template>
  <TotalTime>58</TotalTime>
  <Words>325</Words>
  <Application>Microsoft Office PowerPoint</Application>
  <PresentationFormat>Widescreen</PresentationFormat>
  <Paragraphs>50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Arial Black</vt:lpstr>
      <vt:lpstr>Calibri</vt:lpstr>
      <vt:lpstr>Custom</vt:lpstr>
      <vt:lpstr>Text-Based Classification of Movie Reviews</vt:lpstr>
      <vt:lpstr>Background</vt:lpstr>
      <vt:lpstr>Methods - Data</vt:lpstr>
      <vt:lpstr>Methods - Approach</vt:lpstr>
      <vt:lpstr>Methods – Use of ChatGPT</vt:lpstr>
      <vt:lpstr>Results</vt:lpstr>
      <vt:lpstr>Post-Hoc Analysis </vt:lpstr>
      <vt:lpstr>Improvements</vt:lpstr>
      <vt:lpstr>Why the project fits the DS320 requirements?</vt:lpstr>
      <vt:lpstr>Links to Project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your project</dc:title>
  <dc:creator>Elmanzalawi, Yasser</dc:creator>
  <cp:lastModifiedBy>Raed Karkoub</cp:lastModifiedBy>
  <cp:revision>24</cp:revision>
  <dcterms:created xsi:type="dcterms:W3CDTF">2024-03-20T18:46:45Z</dcterms:created>
  <dcterms:modified xsi:type="dcterms:W3CDTF">2025-05-02T22:11:57Z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5f6b6050-ebef-4124-82db-2317de8fbc66_Enabled">
    <vt:lpwstr>true</vt:lpwstr>
  </property>
  <property fmtid="{D5CDD505-2E9C-101B-9397-08002B2CF9AE}" pid="4" name="MSIP_Label_5f6b6050-ebef-4124-82db-2317de8fbc66_SetDate">
    <vt:lpwstr>2025-02-25T17:34:39Z</vt:lpwstr>
  </property>
  <property fmtid="{D5CDD505-2E9C-101B-9397-08002B2CF9AE}" pid="5" name="MSIP_Label_5f6b6050-ebef-4124-82db-2317de8fbc66_Method">
    <vt:lpwstr>Privileged</vt:lpwstr>
  </property>
  <property fmtid="{D5CDD505-2E9C-101B-9397-08002B2CF9AE}" pid="6" name="MSIP_Label_5f6b6050-ebef-4124-82db-2317de8fbc66_Name">
    <vt:lpwstr>Public</vt:lpwstr>
  </property>
  <property fmtid="{D5CDD505-2E9C-101B-9397-08002B2CF9AE}" pid="7" name="MSIP_Label_5f6b6050-ebef-4124-82db-2317de8fbc66_SiteId">
    <vt:lpwstr>37d46c56-7c66-4402-a160-55c2313b910d</vt:lpwstr>
  </property>
  <property fmtid="{D5CDD505-2E9C-101B-9397-08002B2CF9AE}" pid="8" name="MSIP_Label_5f6b6050-ebef-4124-82db-2317de8fbc66_ActionId">
    <vt:lpwstr>e79739a5-0352-4c0e-a6fb-6d002a21db75</vt:lpwstr>
  </property>
  <property fmtid="{D5CDD505-2E9C-101B-9397-08002B2CF9AE}" pid="9" name="MSIP_Label_5f6b6050-ebef-4124-82db-2317de8fbc66_ContentBits">
    <vt:lpwstr>0</vt:lpwstr>
  </property>
  <property fmtid="{D5CDD505-2E9C-101B-9397-08002B2CF9AE}" pid="10" name="MSIP_Label_5f6b6050-ebef-4124-82db-2317de8fbc66_Tag">
    <vt:lpwstr>10, 0, 1, 1</vt:lpwstr>
  </property>
</Properties>
</file>